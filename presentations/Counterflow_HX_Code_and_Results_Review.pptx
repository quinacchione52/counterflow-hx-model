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Spencer thesis + technical note; repository snapshot da28165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Repository results; code snapshot da28165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Repository results; code snapshot da28165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Spencer thesis Tables 12–13, printed pp.55–56; Smooth_cases.csv; Dimpled_cases.csv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hx_metrics.py; CounterHX_full.py; Spencer experimental definition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roughness.py; Correlations.py; validation/correlation_audit.md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roughness.py; illustration: maximum e/D=0.02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Correlations.py; Counterflow_HX_4.py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Counterflow_HX_4.py; tests/test_correlations_profiles.py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Spencer thesis Eqs.4–10, printed pp.9–10; Correlations.py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validation/Correlation_audit_first_pass_HEOS.csv; 40 segments, shared water assumptions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Spencer thesis §7.2 / Table 8, printed pp.38–39; procedure printed p.29; correlation_audit.md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train_smooth_baseline.py; smooth_baseline.py; model.json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results/smooth_baseline/heldout_predictions.csv; 38 cases,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results/smooth_baseline/heldout_predictions.csv; shaded region: ±5% target error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Dimpled-transfer.summary.csv; historical all-40-case CSV; 20-segment screen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Dimpled_fine_grid_checks.csv; historical all-40-case CSV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Dimpled-transfer.summary.csv; matched 20-segment solutions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Repository results; code snapshot da28165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tests/test_correlations_profiles.py; Smooth_grid_checks.csv; Dimpled_fine_grid_checks.csv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Repository results; code snapshot da28165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results/smooth_baseline/Dimpled-transfer.summary.csv;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results/smooth_baseline/Dimpled-transfer.summary.csv;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results/smooth_baseline/Dimpled-transfer.summary.csv;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results/smooth_baseline/Dimpled-transfer.summary.csv;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results/smooth_baseline/heldout_predictions.csv;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results/smooth_baseline/heldout_predictions.csv;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results/smooth_baseline/heldout_predictions.csv;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results/smooth_baseline/heldout_predictions.csv; 20 segments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Sources: GitHub: QuinAcchione52/counterflow-hx-model; model-results snapshot da28165</a:t>
            </a:r>
          </a:p>
          <a:p>
            <a:r>
              <a:t>Repository: https://github.com/QuinAcchione52/counterflow-hx-model</a:t>
            </a:r>
          </a:p>
          <a:p>
            <a:r>
              <a:t>Model-results snapshot: da28165; prepared October 13,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Counterflow sCO₂ heat-exchanger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Code audit • smooth baseline testing • dimpled HTC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Spencer thesis + technical note; repository snapshot da28165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142B45"/>
                </a:solidFill>
                <a:latin typeface="Aptos"/>
              </a:defRPr>
            </a:pPr>
            <a:r>
              <a:t>What changed, what improved,</a:t>
            </a:r>
          </a:p>
          <a:p>
            <a:pPr>
              <a:spcAft>
                <a:spcPts val="1100"/>
              </a:spcAft>
              <a:defRPr sz="3600" b="1">
                <a:solidFill>
                  <a:srgbClr val="142B45"/>
                </a:solidFill>
                <a:latin typeface="Aptos"/>
              </a:defRPr>
            </a:pPr>
            <a:r>
              <a:t>and what remains unresolved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008A83"/>
                </a:solidFill>
                <a:latin typeface="Aptos"/>
              </a:defRPr>
            </a:pPr>
            <a:r>
              <a:t>38 smooth cases  |  40 dimpled cases  |  HEOS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536478"/>
                </a:solidFill>
                <a:latin typeface="Aptos"/>
              </a:defRPr>
            </a:pPr>
            <a:r>
              <a:t>Research review • October 13, 2026</a:t>
            </a:r>
          </a:p>
          <a:p>
            <a:pPr>
              <a:spcAft>
                <a:spcPts val="1100"/>
              </a:spcAft>
              <a:defRPr sz="1800" b="0">
                <a:solidFill>
                  <a:srgbClr val="536478"/>
                </a:solidFill>
                <a:latin typeface="Aptos"/>
              </a:defRPr>
            </a:pPr>
            <a:r>
              <a:t>All e/D matches are conditional on stated operating assumptions.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The main result: improvement with clear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Repository results; code snapshot da28165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3736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7589520"/>
              </a:tblGrid>
              <a:tr h="624839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Did real code errors exist?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Yes: profiles, property handling, friction and local wall closure.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Did those fixes explain the HTC gap?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No: representative smooth friction change is only about 1%.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Did smooth calibration help prediction?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Held-out mean absolute HTC error: 46.73% → 14.22%.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Can bounded e/D match more dimples?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24/40 matched within 0–0.05; 16 remain unfitted.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Is the physical mismatch fully solved?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No: heat flux, boundary conditions and applicability remain issues.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A calibrated HTC match is not independent validation of roughness, duty or pressure drop.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Starting problem and the analysis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Historical observations are not a controlled before/after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Repository results; code snapshot da28165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Initial May27 result: roughly 543 versus experimental HTC around 2600 W/(m²·K).</a:t>
            </a:r>
          </a:p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Changing guessed inlet temperature and allowing very large e/D could fit HTC, but interpretation was unclear.</a:t>
            </a:r>
          </a:p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First compare smooth tubes at e/D=0; then audit the code; then test a separate smooth baseline correction.</a:t>
            </a:r>
          </a:p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Hold the smooth-trained correction fixed while fitting individual dimpled e/D.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The experimental observations were not edited to improve 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What data were used—and what was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Spencer thesis Tables 12–13, printed pp.55–56; Smooth_cases.csv; Dimpled_cases.csv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3736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498079"/>
              </a:tblGrid>
              <a:tr h="6248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 / 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Treatment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38 smooth + 40 dimpled cases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Pressure, CO₂ flow, mean temperature and HTC from source tables.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CO₂ inlet / outlet temperatures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Inlet inferred to reproduce the reported endpoint mean; not measured inputs.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Water inlet / flow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Shared assumptions: 20.7 °C and 0.087 kg/s.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Geometry / properties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ID 13.3858 mm; length 1 m; wall 1.2446 mm; HEOS backend.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Nominal heat flux / uncertainty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 or 3 kW/m² group; retain source HTC uncertainty unchanged.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Nominal flux group ≠ exact measured per-case duty; constant water conditions ≠ exact rig reproduction.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Compare the same HTC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The endpoint metric and the mean of local HTC values answer different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hx_metrics.py; CounterHX_full.py; Spencer experimental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Reported comparison metric: h = Q / (Aᵢ × ΔTₗₘ,bulk–inner wall).</a:t>
            </a:r>
          </a:p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This LMTD is the CO₂ bulk-to-wall difference at the two tube ends—not CO₂-to-water LMTD.</a:t>
            </a:r>
          </a:p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The CO₂ inlet is solved jointly so (Tᵢₙ + Tₒᵤₜ)/2 matches the reported mean.</a:t>
            </a:r>
          </a:p>
          <a:p>
            <a:pPr>
              <a:spcAft>
                <a:spcPts val="1100"/>
              </a:spcAft>
              <a:defRPr sz="2200" b="0">
                <a:solidFill>
                  <a:srgbClr val="142B45"/>
                </a:solidFill>
                <a:latin typeface="Aptos"/>
              </a:defRPr>
            </a:pPr>
            <a:r>
              <a:t>• The output also preserves local HTC, wall temperatures, duty and energy residuals.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For nonuniform e/D, endpoint HTC and length-mean local HTC can differ substantially.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Code changes 1/3: roughness and DH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roughness.py; Correlations.py; validation/correlation_audit.md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3736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126480"/>
              </a:tblGrid>
              <a:tr h="6248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Step with n=1 produced zero e/D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One step applies the requested constant e/D.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Custom arrays reduced to first value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Each axial node retains its supplied roughness value.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Step boundaries depended on node partition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Profiles use normalized physical position x/L.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Direct Colebrook replaced smooth DH friction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Original smooth DH recovered exactly at e/D=0.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Ambiguous rough-tube DH interpretation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Relative Colebrook enhancement explicitly labeled empirical.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Local roughness profiles now behave as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roughness.py; illustration: maximum e/D=0.02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Picture 5" descr="roughness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8321040" cy="3830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920240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Validated behavior</a:t>
            </a: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One Step = Constant.</a:t>
            </a: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Custom arrays preserved.</a:t>
            </a: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Negative / malformed inputs rejected.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Profile comparison is illustrative; not an experimentally validated dimple geometry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Code changes 2/3: properties and wall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Correlations.py; Counterflow_HX_4.py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Removed silent clipping of CO₂ and wall temperatures; invalid states produce explicit errors.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Water pressure is supplied in Pa to the correlation; no unit guessing based on magnitude.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Water-wall iteration now converges to a tolerance instead of stopping after three iterations.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Coupled solver starts at zero duty rather than an arbitrary 3 kW/m² seed that could create a false freezing state.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CoolProp named phase constants replace incorrect numerical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Code changes 3/3: balances and pressure bookkeeping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Counterflow_HX_4.py; tests/test_correlations_profiles.py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Node heat flux now follows local conductance and bulk temperature difference. Segment duty remains integrated separately.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Convergence checks include local water-wall heat-flux closure; both wall-flux and conduction residuals are exported.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Thermal friction uses film Reynolds number; mechanical Darcy friction uses bulk Reynolds number.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Added diagnostics: selected Prandtl branch, Cp averaging, film conductivity, phase and separate friction factors.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Corrected pressure bookkeeping is not an experimental pressure-drop calibration.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Dang–Hihara remains the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Equation audit uses Spencer’s transcription; original article was not independently 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Spencer thesis Eqs.4–10, printed pp.9–10; Correlations.py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600" b="1">
                <a:solidFill>
                  <a:srgbClr val="142B45"/>
                </a:solidFill>
                <a:latin typeface="Aptos"/>
              </a:defRPr>
            </a:pPr>
            <a:r>
              <a:t>Smooth thermal friction</a:t>
            </a:r>
          </a:p>
          <a:p>
            <a:pPr>
              <a:spcAft>
                <a:spcPts val="1100"/>
              </a:spcAft>
              <a:defRPr sz="2600" b="1">
                <a:solidFill>
                  <a:srgbClr val="142B45"/>
                </a:solidFill>
                <a:latin typeface="Aptos"/>
              </a:defRPr>
            </a:pPr>
            <a:r>
              <a:t>fDH = [1.82 log₁₀(Refilm) − 1.64]⁻²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 b="1">
                <a:solidFill>
                  <a:srgbClr val="008A83"/>
                </a:solidFill>
                <a:latin typeface="Aptos"/>
              </a:defRPr>
            </a:pPr>
            <a:r>
              <a:t>Local roughness extension</a:t>
            </a:r>
          </a:p>
          <a:p>
            <a:pPr>
              <a:spcAft>
                <a:spcPts val="1100"/>
              </a:spcAft>
              <a:defRPr sz="2300" b="1">
                <a:solidFill>
                  <a:srgbClr val="008A83"/>
                </a:solidFill>
                <a:latin typeface="Aptos"/>
              </a:defRPr>
            </a:pPr>
            <a:r>
              <a:t>fheat = fDH × fColebrook(Refilm, e/D) / fColebrook(Refilm,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142B45"/>
                </a:solidFill>
                <a:latin typeface="Aptos"/>
              </a:defRPr>
            </a:pPr>
            <a:r>
              <a:t>Optional empirical baseline</a:t>
            </a:r>
          </a:p>
          <a:p>
            <a:pPr>
              <a:spcAft>
                <a:spcPts val="1100"/>
              </a:spcAft>
              <a:defRPr sz="2400" b="1">
                <a:solidFill>
                  <a:srgbClr val="142B45"/>
                </a:solidFill>
                <a:latin typeface="Aptos"/>
              </a:defRPr>
            </a:pPr>
            <a:r>
              <a:t>Nucorrected = Csmooth × NuDH,roughness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The roughness ratio and smooth multiplier are empirical additions; defaults keep Csmooth =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Fixing the smooth friction expression is a small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validation/Correlation_audit_first_pass_HEOS.csv; 40 segments, shared water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3736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2743200"/>
                <a:gridCol w="2743200"/>
                <a:gridCol w="246888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Direct Colebrook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DH-based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May27_10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731.98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740.46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+1.16%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May27_10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1291.30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1304.15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+0.99%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May19_3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698.53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705.64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+1.02%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51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36478"/>
                </a:solidFill>
                <a:latin typeface="Aptos"/>
              </a:defRPr>
            </a:pPr>
            <a:r>
              <a:t>Units: W/(m²·K). This isolates thermal friction choices within the corrected solver; it is not a replay of the initial 543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The large HTC gap cannot be attributed to this friction-expression difference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Why a baseline mismatch can persist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Spencer thesis §7.2 / Table 8, printed pp.38–39; procedure printed p.29; correlation_audit.md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The cited DH database uses smaller smooth tubes (1–6 mm) and substantially higher mass flux (~200 kg/m²·s).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Spencer’s modeled tube is 13.4 mm ID; smooth-case mass flux is about 21–35 kg/m²·s.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Buoyancy, thermal entrance effects and dimple-induced secondary flows are not independently modeled by the roughness ratio.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The source procedure adjusts or prechills water; shared 20.7 °C water inputs are an approximation.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Smooth-tube mismatch exists before adding dimples. This does not establish experimental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How the optional smooth correction was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train_smooth_baseline.py; smooth_baseline.py; model.json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Fit one positive multiplier per smooth case at e/D=0 inside the coupled solver.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Fit log(multiplier) using temperature relative to the pseudocritical point, its square, log(mass flux) and log(nominal flux group).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For each held-out case, exclude its fitted factor; train on the other 37; predict its multiplier and run the HX solver.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Then train on all 38 smooth cases for transfer to dimples. No dimple HTC is used to train the smooth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Nominal flux is a predictor, not imposed heat duty. Related campaign cases limit generalization claims.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Smooth predictions improve, but are not all within 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results/smooth_baseline/heldout_predictions.csv; 38 cases, 20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6" name="Picture 5" descr="smooth_p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53" y="1645920"/>
            <a:ext cx="7602173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9202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  <a:r>
              <a:t>Mean absolute error</a:t>
            </a:r>
          </a:p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  <a:r>
              <a:t>46.73% → 14.22%</a:t>
            </a:r>
          </a:p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</a:p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  <a:r>
              <a:t>Within ±5%</a:t>
            </a:r>
          </a:p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  <a:r>
              <a:t>9 / 38 cases</a:t>
            </a:r>
          </a:p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</a:p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  <a:r>
              <a:t>Worst held-out error</a:t>
            </a:r>
          </a:p>
          <a:p>
            <a:pPr>
              <a:spcAft>
                <a:spcPts val="1100"/>
              </a:spcAft>
              <a:defRPr sz="2200" b="1">
                <a:solidFill>
                  <a:srgbClr val="008A83"/>
                </a:solidFill>
                <a:latin typeface="Aptos"/>
              </a:defRPr>
            </a:pPr>
            <a:r>
              <a:t>43.46%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All 38 smooth cases: signed error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results/smooth_baseline/heldout_predictions.csv; shaded region: ±5% target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6" name="Picture 5" descr="smooth_case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512" y="1645920"/>
            <a:ext cx="8602215" cy="3977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971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Percentage prediction error is distinct from Spencer’s reported experimental uncertainty.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Dimpled transfer: 24 matches within the tested e/D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Dimpled-transfer.summary.csv; historical all-40-case CSV; 20-segment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6" name="Picture 5" descr="dimpl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73" y="1645920"/>
            <a:ext cx="8676613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Historical: 4/40 within 0–0.05. Current: 24/40. Different formulation; neither count proves physical roughness.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Two example fits confirmed at 100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Dimpled_fine_grid_checks.csv; historical all-40-case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373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Historical e/D¹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New e/D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Numerical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May19_3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0.284824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0.0105245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1862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1862.00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May27_10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0.363686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0.0153195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2642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2642.00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977639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536478"/>
                </a:solidFill>
                <a:latin typeface="Aptos"/>
              </a:defRPr>
            </a:pPr>
            <a:r>
              <a:t>¹ Historical 20-segment calibrated table; current example fits use 100 segments.</a:t>
            </a:r>
          </a:p>
          <a:p>
            <a:pPr>
              <a:spcAft>
                <a:spcPts val="1100"/>
              </a:spcAft>
              <a:defRPr sz="1800" b="0">
                <a:solidFill>
                  <a:srgbClr val="536478"/>
                </a:solidFill>
                <a:latin typeface="Aptos"/>
              </a:defRPr>
            </a:pPr>
            <a:r>
              <a:t>HTC units: W/(m²·K). These are fitted targets, not held-out dimple predictions.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A smaller fitted e/D reflects the added baseline correction; it is not an independent roughness measurement.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Matching HTC still does not match heat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Dimpled-transfer.summary.csv; matched 20-segment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6" name="Picture 5" descr="flux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7863840" cy="37657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2011680"/>
            <a:ext cx="2743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D88132"/>
                </a:solidFill>
                <a:latin typeface="Aptos"/>
              </a:defRPr>
            </a:pPr>
            <a:r>
              <a:t>May19_3</a:t>
            </a:r>
          </a:p>
          <a:p>
            <a:pPr>
              <a:spcAft>
                <a:spcPts val="1100"/>
              </a:spcAft>
              <a:defRPr sz="2100" b="1">
                <a:solidFill>
                  <a:srgbClr val="D88132"/>
                </a:solidFill>
                <a:latin typeface="Aptos"/>
              </a:defRPr>
            </a:pPr>
            <a:r>
              <a:t>1436 vs 2000 W/m²</a:t>
            </a:r>
          </a:p>
          <a:p>
            <a:pPr>
              <a:spcAft>
                <a:spcPts val="1100"/>
              </a:spcAft>
              <a:defRPr sz="2100" b="1">
                <a:solidFill>
                  <a:srgbClr val="D88132"/>
                </a:solidFill>
                <a:latin typeface="Aptos"/>
              </a:defRPr>
            </a:pPr>
            <a:r>
              <a:t>≈ −28.2%</a:t>
            </a:r>
          </a:p>
          <a:p>
            <a:pPr>
              <a:spcAft>
                <a:spcPts val="1100"/>
              </a:spcAft>
              <a:defRPr sz="2100" b="1">
                <a:solidFill>
                  <a:srgbClr val="D88132"/>
                </a:solidFill>
                <a:latin typeface="Aptos"/>
              </a:defRPr>
            </a:pPr>
          </a:p>
          <a:p>
            <a:pPr>
              <a:spcAft>
                <a:spcPts val="1100"/>
              </a:spcAft>
              <a:defRPr sz="2100" b="1">
                <a:solidFill>
                  <a:srgbClr val="D88132"/>
                </a:solidFill>
                <a:latin typeface="Aptos"/>
              </a:defRPr>
            </a:pPr>
            <a:r>
              <a:t>May27_10</a:t>
            </a:r>
          </a:p>
          <a:p>
            <a:pPr>
              <a:spcAft>
                <a:spcPts val="1100"/>
              </a:spcAft>
              <a:defRPr sz="2100" b="1">
                <a:solidFill>
                  <a:srgbClr val="D88132"/>
                </a:solidFill>
                <a:latin typeface="Aptos"/>
              </a:defRPr>
            </a:pPr>
            <a:r>
              <a:t>1412 vs 3000 W/m²</a:t>
            </a:r>
          </a:p>
          <a:p>
            <a:pPr>
              <a:spcAft>
                <a:spcPts val="1100"/>
              </a:spcAft>
              <a:defRPr sz="2100" b="1">
                <a:solidFill>
                  <a:srgbClr val="D88132"/>
                </a:solidFill>
                <a:latin typeface="Aptos"/>
              </a:defRPr>
            </a:pPr>
            <a:r>
              <a:t>≈ −52.9%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These are differences from nominal groups; exact measured per-case duty is needed for a definitive comparison.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How the data workflow improved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Repository results; code snapshot da28165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Experimental target HTC, reported uncertainty and nominal flux remain separate from numerical outputs.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Measured CO₂ pressure/flow/mean temperature are distinguished from assumed water conditions and inferred inlet temperature.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All-case outputs preserve unfitted status, baseline extrapolation flags and local diagnostics.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Historical tables remain archived; new formulation results are saved separately.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Prediction errors and fitted target agreement are labeled separately. No experimental uncertainty was reduced.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Better traceability and prediction—not modification of the experimental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Verification completed—and its practical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tests/test_correlations_profiles.py; Smooth_grid_checks.csv; Dimpled_fine_grid_checks.csv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42B45"/>
                </a:solidFill>
                <a:latin typeface="Aptos"/>
              </a:defRPr>
            </a:pPr>
            <a:r>
              <a:t>• 17 tests pass: profile semantics, Colebrook reference, DH smooth limit, invalid-state guards, wall and energy balances, and calibration-domain checks.</a:t>
            </a:r>
          </a:p>
          <a:p>
            <a:pPr>
              <a:spcAft>
                <a:spcPts val="1100"/>
              </a:spcAft>
              <a:defRPr sz="2000" b="0">
                <a:solidFill>
                  <a:srgbClr val="142B45"/>
                </a:solidFill>
                <a:latin typeface="Aptos"/>
              </a:defRPr>
            </a:pPr>
            <a:r>
              <a:t>• Three representative corrected smooth cases: 20 → 100 segments changed HTC by less than 0.002%.</a:t>
            </a:r>
          </a:p>
          <a:p>
            <a:pPr>
              <a:spcAft>
                <a:spcPts val="1100"/>
              </a:spcAft>
              <a:defRPr sz="2000" b="0">
                <a:solidFill>
                  <a:srgbClr val="142B45"/>
                </a:solidFill>
                <a:latin typeface="Aptos"/>
              </a:defRPr>
            </a:pPr>
            <a:r>
              <a:t>• May19_3 and May27_10 dimple fits confirmed at 100 segments.</a:t>
            </a:r>
          </a:p>
          <a:p>
            <a:pPr>
              <a:spcAft>
                <a:spcPts val="1100"/>
              </a:spcAft>
              <a:defRPr sz="2000" b="0">
                <a:solidFill>
                  <a:srgbClr val="142B45"/>
                </a:solidFill>
                <a:latin typeface="Aptos"/>
              </a:defRPr>
            </a:pPr>
            <a:r>
              <a:t>• Held-out smooth energy residuals are below 6 × 10⁻⁸ W; fitted dimple CO₂ residuals below 3.3 × 10⁻⁶ W.</a:t>
            </a:r>
          </a:p>
          <a:p>
            <a:pPr>
              <a:spcAft>
                <a:spcPts val="1100"/>
              </a:spcAft>
              <a:defRPr sz="2000" b="0">
                <a:solidFill>
                  <a:srgbClr val="142B45"/>
                </a:solidFill>
                <a:latin typeface="Aptos"/>
              </a:defRPr>
            </a:pPr>
            <a:r>
              <a:t>• May24_1 is flagged outside a smooth-training range. No pressure-drop agreement is established.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Numerical convergence and energy closure do not establish physical validity.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Recommended discussion with your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Repository results; code snapshot da28165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“We corrected identifiable implementation errors while retaining Dang–Hihara.”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“Those fixes do not explain the full gap; a separate smooth-trained correction improves held-out HTC predictions.”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“Bounded dimple fits increase to 24/40, but these are empirical calibrations and heat flux still disagrees.”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Next: recover per-case inlet/outlet, water flow/temperature, measured duty and wall-temperature data.</a:t>
            </a:r>
          </a:p>
          <a:p>
            <a:pPr>
              <a:spcAft>
                <a:spcPts val="1100"/>
              </a:spcAft>
              <a:defRPr sz="2100" b="0">
                <a:solidFill>
                  <a:srgbClr val="142B45"/>
                </a:solidFill>
                <a:latin typeface="Aptos"/>
              </a:defRPr>
            </a:pPr>
            <a:r>
              <a:t>• Then test entrance / mixed-convection physics and validate on an independent campaign before interpreting e/D as roughness.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The evidence supports model-development progress, not a claim that the rig or correlation has been disproved.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dimpled cases 1–10 of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W/(m²·K). Unfitted cases show endpoint predictions; no forced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results/smooth_baseline/Dimpled-transfer.summary.csv;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97280"/>
                <a:gridCol w="1554480"/>
                <a:gridCol w="1645920"/>
                <a:gridCol w="1417320"/>
                <a:gridCol w="1325880"/>
                <a:gridCol w="1965960"/>
              </a:tblGrid>
              <a:tr h="36160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e/D=0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e/D=.05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e/D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May19_3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1862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1528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2491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1862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0.010524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May21_5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2190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1753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2833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2190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0.012867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May21_6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2465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1754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2934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2465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0.023158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1276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973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1633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1276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0.015582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983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633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1087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983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0.033412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349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270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452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349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0.016803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761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797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1330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365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447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749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1059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1009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1685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1059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0.002036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June1_3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906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962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1608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* May24_1: smooth-baseline range extrapolation. A tested e/D bound is not a validated physical limit.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dimpled cases 11–20 of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W/(m²·K). Unfitted cases show endpoint predictions; no forced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results/smooth_baseline/Dimpled-transfer.summary.csv;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97280"/>
                <a:gridCol w="1554480"/>
                <a:gridCol w="1645920"/>
                <a:gridCol w="1417320"/>
                <a:gridCol w="1325880"/>
                <a:gridCol w="1965960"/>
              </a:tblGrid>
              <a:tr h="36160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e/D=0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e/D=.05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e/D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June1_4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971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1013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1683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May19_1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2819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2012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3343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2819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0.023136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May21_3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3039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2159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3537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3039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0.024924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1883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1360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2288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1883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0.020736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1119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710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1251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1119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0.032408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379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254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Above cap *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459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531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890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416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505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851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694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877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1468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2326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1959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3273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2326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0.008231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* May24_1: smooth-baseline range extrapolation. A tested e/D bound is not a validated physical limit.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dimpled cases 21–30 of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W/(m²·K). Unfitted cases show endpoint predictions; no forced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results/smooth_baseline/Dimpled-transfer.summary.csv;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97280"/>
                <a:gridCol w="1554480"/>
                <a:gridCol w="1645920"/>
                <a:gridCol w="1417320"/>
                <a:gridCol w="1325880"/>
                <a:gridCol w="1965960"/>
              </a:tblGrid>
              <a:tr h="36160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e/D=0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e/D=.05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e/D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June1_1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754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952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1601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May19_4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1865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1497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2486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1865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0.010943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May21_7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2343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1828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3026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2343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0.013417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1325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885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1533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1325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0.027118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994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537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954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Above cap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332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290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504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332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0.006247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776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774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1342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776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0.000095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369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473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824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1651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1210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2097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1651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0.017717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June1_5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1025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989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1699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1025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0.001290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* May24_1: smooth-baseline range extrapolation. A tested e/D bound is not a validated physical limit.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dimpled cases 31–40 of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W/(m²·K). Unfitted cases show endpoint predictions; no forced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results/smooth_baseline/Dimpled-transfer.summary.csv;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97280"/>
                <a:gridCol w="1554480"/>
                <a:gridCol w="1645920"/>
                <a:gridCol w="1417320"/>
                <a:gridCol w="1325880"/>
                <a:gridCol w="1965960"/>
              </a:tblGrid>
              <a:tr h="36160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e/D=0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e/D=.05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Fitted e/D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May19_2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2964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2001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3394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2964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0.027511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May21_4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3027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2113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3544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3027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0.024223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1725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1206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2103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1725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0.021064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May22_7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1094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594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1090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Above cap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370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213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370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370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0.049887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May24_6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545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702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1219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420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575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1006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859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978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1693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May27_10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2642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1971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3421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2642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0.015321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Matched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June1_2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924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1049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1812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Below baseline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* May24_1: smooth-baseline range extrapolation. A tested e/D bound is not a validated physical limit.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smooth cases 1–10 of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W/(m²·K); correction predicted with this case withheld; e/D=0.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results/smooth_baseline/heldout_predictions.csv;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920240"/>
                <a:gridCol w="2011680"/>
                <a:gridCol w="1554480"/>
                <a:gridCol w="1645920"/>
              </a:tblGrid>
              <a:tr h="36160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Uncorrected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Held-out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Error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Within 5%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March_27_1_a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191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175.6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141.5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-25.9%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March_29_b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884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277.6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725.7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-17.9%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April_15_2_40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509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342.7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386.5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-24.1%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May_4_2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1599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647.8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1540.0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-3.7%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May_11_3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1952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652.1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1693.0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-13.3%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May_12_3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763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498.0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846.1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+10.9%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May_14_4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1268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408.3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1184.9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-6.6%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May_16_1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494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265.0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662.0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+34.0%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May_16_5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1527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675.8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1559.3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+2.1%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March_27_1_b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260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181.7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358.7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+38.0%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smooth cases 11–20 of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W/(m²·K); correction predicted with this case withheld; e/D=0.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results/smooth_baseline/heldout_predictions.csv;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920240"/>
                <a:gridCol w="2011680"/>
                <a:gridCol w="1554480"/>
                <a:gridCol w="1645920"/>
              </a:tblGrid>
              <a:tr h="36160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Uncorrected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Held-out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Error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Within 5%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March_29_a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1004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259.3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725.4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-27.8%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April_15_1_38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1055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577.1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1186.5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+12.5%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April_22_1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666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254.1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738.7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+10.9%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May_4_1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1972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655.4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1937.7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-1.7%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May_11_1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1757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449.7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1596.3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-9.1%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May_12_1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972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538.7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1118.9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+15.1%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May_14_3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1133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327.0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1066.8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-5.8%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May_16_3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1776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645.6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1832.5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+3.2%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April_5_1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229.5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229.4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+21.4%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April_5_2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229.2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232.1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+26.8%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smooth cases 21–30 of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W/(m²·K); correction predicted with this case withheld; e/D=0.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results/smooth_baseline/heldout_predictions.csv;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920240"/>
                <a:gridCol w="2011680"/>
                <a:gridCol w="1554480"/>
                <a:gridCol w="1645920"/>
              </a:tblGrid>
              <a:tr h="36160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Uncorrected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Held-out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Error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Within 5%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April_12_2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198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239.6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241.1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+21.8%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April_18_1_34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900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363.7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783.2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-13.0%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April_18_3_38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704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517.1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713.9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+1.4%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May_4_4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951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669.5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1033.6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+8.7%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May_11_4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2004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819.3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1679.5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-16.2%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May_12_4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722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548.9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724.0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+0.3%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May_14_5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1599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558.7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1291.2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-19.3%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May_16_2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495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315.5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621.7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+25.6%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May_16_6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1425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847.8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1494.9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+4.9%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11_Apr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212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221.7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233.6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+10.2%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Appendix: smooth cases 31–38 of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0">
                <a:solidFill>
                  <a:srgbClr val="536478"/>
                </a:solidFill>
                <a:latin typeface="Aptos"/>
              </a:defRPr>
            </a:pPr>
            <a:r>
              <a:t>HTC in W/(m²·K); correction predicted with this case withheld; e/D=0.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results/smooth_baseline/heldout_predictions.csv; 20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920240"/>
                <a:gridCol w="2011680"/>
                <a:gridCol w="1554480"/>
                <a:gridCol w="1645920"/>
              </a:tblGrid>
              <a:tr h="44195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Uncorrected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Held-out HTC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Error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Within 5%</a:t>
                      </a:r>
                    </a:p>
                  </a:txBody>
                  <a:tcPr marL="82296" marR="54864">
                    <a:solidFill>
                      <a:srgbClr val="142B45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April_12_1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223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262.5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126.1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-43.5%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April_18_2_36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1564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791.6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1732.0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+10.7%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April_22_2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921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313.5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796.5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-13.5%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May_4_3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1296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763.0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1429.4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+10.3%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May_11_2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2268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694.1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1883.5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-17.0%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May_12_2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794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552.1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870.8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+9.7%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May_14_2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964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359.5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952.4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-1.2%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1F5F8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May_16_4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1704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784.1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1749.5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+2.7%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82296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42B45"/>
                </a:solidFill>
                <a:latin typeface="Aptos"/>
              </a:defRPr>
            </a:pPr>
            <a:r>
              <a:t>Sources, reproducibility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36478"/>
                </a:solidFill>
                <a:latin typeface="Aptos"/>
              </a:defRPr>
            </a:pPr>
            <a:r>
              <a:t>GitHub: QuinAcchione52/counterflow-hx-model; model-results snapshot da28165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3647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• Spencer thesis: Eqs.4–10 (pp.9–10), procedure (p.29), correlation comparison (pp.38–39), Tables 12–13 (pp.55–56); supplied technical note as companion reference.</a:t>
            </a: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• Code audit: validation/correlation_audit.md. Implementation: Correlations.py, Counterflow_HX_4.py, roughness.py.</a:t>
            </a: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• Results: results/smooth_baseline/heldout_predictions.xlsx and Dimpled-transfer.xlsx.</a:t>
            </a: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• Reproduce correction: train_smooth_baseline.py. Transfer fitting: calibrate_dimpled.py --smooth-baseline-model results/smooth_baseline/model.json --ep-max .05.</a:t>
            </a:r>
          </a:p>
          <a:p>
            <a:pPr>
              <a:spcAft>
                <a:spcPts val="11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• See repository README for full Windows commands, explicit baseline-extrapolation flag and HEOS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008A83"/>
                </a:solidFill>
                <a:latin typeface="Aptos"/>
              </a:defRPr>
            </a:pPr>
            <a:r>
              <a:t>Primary Dang–Hihara article not independently verified; equation audit relies on Spencer’s transcription.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Counterflow sCO2 HX — code audit and calibration results</dc:title>
  <dc:subject>Dang–Hihara baseline, held-out smooth correction, and bounded dimpled transfer</dc:subject>
  <dc:creator>Counterflow HX model research review</dc:creator>
  <cp:keywords/>
  <dc:description>Generated from repository snapshot da28165; experimental data not modified.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